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UTI 임상진료지침 권고안 의료인 핵심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</a:defRPr>
            </a:pPr>
            <a:r>
              <a:t>무증상 세균뇨, 단순 요로감염, 복잡성 요로감염, 세균성 전립선염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대한감염학회 · 대한화학요법학회 · 대한요로생식기감염학회 · 대한임상미생물학회 공동 제정 요약 슬라이드 (의학 전문 세미나용)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진료지침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권고의 강도(Strength) 및 근거 수준(Quality)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📢 권고의 강도 (Strength)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A Good evidence : 권장할 만한 충분한 근거가 있음.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B Moderate evidence : 충분하진 않으나 고려할 정도의 근거가 있음.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C Poor evidence : 권장하기에 근거가 불충분함.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🔬 근거 수준 (Quality)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I 1개 이상의 무작위 대조군 연구(RCT)에 기반한 확실한 근거.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II 잘 고안된 비무작위 임상 연구, 코호트 또는 대조군 분석 연구.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III 임상 경험, 기술적 연구, 또는 전문가 위원회의 의견에 기반함.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무증상 세균뇨 (ASB)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무증상 세균뇨의 임상 정의 및 진단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대상군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소변 채취 방식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진단 기준 (CFU/mL)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청결채취 중간뇨 (Clean-catch voided)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동일 균주가 10 5 CFU/mL 이상 으로 2회 연속 배양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남성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청결채취 중간뇨 (Clean-catch voided)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단일 균주가 10 5 CFU/mL 이상 으로 1회 배양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남녀 공통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도뇨관 채취 소변 (Catheterized)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단일 균주가 10 2 CFU/mL 이상 으로 1회 배양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무증상 세균뇨 (ASB)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반드시 선별 및 치료가 필요한 환자군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A-I 1. 임신부 (Pregnancy)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임신 초기(임신 12~16주 사이)에 반드시 요배양 선별검사 시행 권장.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치료 시 임신부의 **급성 신우신염 발병**을 크게 낮추고, **저체중아 출산 및 조산**의 유의미한 감소가 확인됨.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A-I 2. 요도경유전립선절제술 (TUR-P) 예정자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수술 전 요배양 검사를 시행하여 치료해야 함.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수술 중/후 점막 손상으로 인해 세균이 혈류로 침투하여 발생하는 **중증 패혈증 및 수술 후 열성 합병증을 방지**함.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점막 출혈이 예상되는 비뇨기과적 처치 전에도 치료 권장 A-III 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무증상 세균뇨 (ASB)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항생제 치료가 권장되지 않는 대상군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대상군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권고 등급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주요 임상적 근거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폐경 전 비임신 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 비권장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세균뇨 치료 여부와 관계없이 요로감염 재발률 및 장기 예후에 영향 없음.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당뇨병 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 비권장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항생제 투여가 감염 발생률이나 신기능 악화를 지연시키지 못함 (부작용만 5배 증가).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지역사회 거주 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A-II 비권장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치료를 받더라도 향후 요로감염 발생률은 대조군과 유의미한 차이가 없음.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장기 요양시설 거주 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 비권장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증상이 동반되지 않은 고령 환자의 항생제 오남용은 심각한 약제 내성 균주를 초래함.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유치 도뇨관 유치 환자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 비권장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도뇨관이 유치된 상태에서는 100% 균막(Biofilm)이 형성되므로 소거가 불가능함.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단순 요로감염 (UNCOMPLICATED 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임상 정의 및 국내 원인 미생물 역학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🔍 임상적 정의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해부학적 또는 기능적 요로계의 이상이나 기저질환(당뇨병, 신경탓 방광 등)이 없는 건강한 비임신</a:t>
            </a:r>
            <a:br/>
            <a:r>
              <a:t>                성인 여성에게 발생하는 감염증입니다.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🧬 원인 미생물 분포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Escherichia coli (대장균) 가 80% 이상으로 가장 흔한 원인균 A-II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기타 K. pneumoniae, P. mirabilis, Enterococcus spp. 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단순 요로감염 (UNCOMPLICATED 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급성 방광염의 항균제 치료 권고안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권장 약제 및 용법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권고 등급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특징 및 비고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1차 권장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경구용 Fluoroquinolone 3일 요법 (Ciprofloxacin, Levofloxacin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가장 널리 사용되며 신속한 치료 효과를 보임. 3일 요법이 5~10일 장기 요법 대비 부작용이 적고 효과 동등.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대안 약제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Fosfomycin trometamol 3 g (1회 단회 투여)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B-I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임신부에게도 비교적 안전하게 사용할 수 있는 장점.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Nitrofurantoin 100 mg (1일 2회, 5~7일간)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B-I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요로 농축도가 우수하여 내성 대장균 치료에 탁월.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β-lactam 항생제 (Cefpodoxime, Cefixime, Amoxicillin/clavulanate)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B-II C-I (Amox/clav)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Fluoroquinolone 사용이 곤란한 환자에게 5-7일 요법으로 제한적 고려. Amoxicillin/clavulanate 3일 요법은 효과가 낮아 1차 권장 안 됨.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단순 요로감염 (UNCOMPLICATED 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급성 신우신염의 임상적 치료 알고리즘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🟢 경미한 신우신염 (외래 통원 치료)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경구용 **Fluoroquinolone**을 1차 선택하여 **7~14일간** 투여 권장 A-I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초기 광범위 정주용 항생제(Ceftriaxone 등)를 1회 정맥 주사 후 경구 치료로 이행하는 방식도 가능 B-III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🔴 중증 신우신염 (입원 치료)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**초기 정주용 항생제** 치료 시행 A-III . - 광범위 Cephalosporin (3세대 등) - Aminoglycoside ± β-lactam - Fluoroquinolone 정적 주사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임상 증상 호전 및 열이 내린(Defervescence) 후, 감수성을 고려하여 적절한 **경구 항생제로 변경(Switch)하여 총 14일간** 투여 A-II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복잡성 요로감염 (COMPLICATED 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당뇨병 환자 요로감염의 임상적 위험성과 원인균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📈 임상적 취약성 및 병인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당뇨 여성은 비당뇨 여성에 비해 **세균뇨 발생률이 2~4배** 높음.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고혈당으로 인한 **백혈구 식균 작용(Phagocytosis) 장애** 및 면역 기전 저하.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당뇨병성 합병증인 **신경인성 방광**으로 인한 소변 정체(Urinary stasis)와 요관 역류 유발.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상부요로감염 빈도가 높고, **신농양, 신주위 농양, 신유두괴사** 등 중증 합병증 발생 빈도가 매우 높음.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🧫 원인균의 차이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비당뇨 환자와 원인균 자체는 유사하나, 상대적으로 **Klebsiella pneumoniae** 동정 빈도가 높음.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**기종성 신우신염(Emphysematous pyelonephritis)**과 같은 치명적인 감염 시 *E. coli*, *K. pneumoniae* 및 *Candida</a:t>
            </a:r>
            <a:br/>
            <a:r>
              <a:t>                  species* 등이 주 원인임.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복잡성 요로감염 (COMPLICATED 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당뇨병 환자의 복잡성 요로감염 진료 지침안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상황 및 임상 양상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주요 권고안 및 치료 전략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권고 등급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당뇨병 환자의 방광염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단순 방광염(3일)보다 길게 **7일 치료**를 고려해 볼 수 있음.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C-III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일률적인 무증상 세균뇨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요로감염 예방에 실익이 없으며 항생제 부작용만 증가하므로 **치료하지 않음**.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기종성 신우신염 의심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진단 및 침범 정도 확인을 위해 즉각적인 **컴퓨터단층촬영(CT)** 시행.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기종성 신우신염 치료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- 가스가 신우에 국한되고 신장실질 침범이 없는 경우: **항생제 단독 투여** - 신실질 침범 또는 신장 주변까지 광범위 침범 시: **항생제 + 경피적 배농술(PCD)** - 배농술 시행 후에도 임상적 호전이 없을 시: **신장절제술(Nephrectomy)** 고려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도뇨관 관련 요로감염 (CAUTI)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도뇨관 관련 요로감염(CAUTI)의 정의와 원인균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📝 임상적 정의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요로유치도뇨관(Foley)이 유치되어 있거나, 도뇨관을 제거한 지 48시간 이내인 환자에게 요로계</a:t>
            </a:r>
            <a:br/>
            <a:r>
              <a:t>                이외의 열원이 없고, 요로감염 증상/징후가 동반되며 유의한 세균뇨가 확인되는 상태를 말합니다.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🦠 광범위하고 다제내성인 원인균 분포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단기간 유치 시 E. coli가 흔하나 비율이 1/3 이하로 줄어듦.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*Klebsiella*, *Serratia*, *Citrobacter*, *Pseudomonas aeruginosa* 등 그람음성 간균 의 빈도 상승.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*Enterococcus*, *Staphylococcus aureus* 등 그람양성균 동정률 증가.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장기간 유치(30일 이상) 시 균막(Biofilm)의 형성이 두드러져 다제내성균 혼합 감염 빈번.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도뇨관 관련 요로감염 (CAUTI)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임상 현장에서의 진단 오류 방지 및 농뇨 판단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🚫 농뇨(Pyuria)와 요로감염의 오인 방지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 삽입 환자의 소변 내 백혈구 검출(농뇨)은 요로감염 진단의 직접적 지표가 되지 못합니다 A-III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농뇨 유무로 무증상 세균뇨와 감염을 구분할 수 없습니다 A-II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농뇨가 동반된 무증상 세균뇨에 대해 항생제 치료를 시작해서는 안 됩니다 A-II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🔍 요로감염을 시사하는 실제 징후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 환자에서 소변 냄새가 나거나 소변이 탁하다(혼탁뇨)고 해서 요로감염이 발생한 것은 아닙니다 A-III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새롭게 시작된 발열, 오한, 전신 쇠약감, 의식 변화, 갈비척추각 압통(CVAT) 등의 배제적 전신 증상이 나타날 때 진단적 가치가 높습니다.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도뇨관 관련 요로감염 (CAUTI)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도뇨관 관련 요로감염 예방을 위한 핵심 간호·처치 원칙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🔒 철저한 무균법 적용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도뇨관은 반드시 필요한 의학적 적응증이 있을 때만 삽입하고, **가능한 한 빨리 제거**해야 함 A-III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수술 후 환자의 조기 제거 프로그램을 활성화하면 감염을 약 60% 줄일 수 있음.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 삽입 시 **멸균 기구를 사용하고 무균법(Aseptic technique)을 준수**함 B-III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소변 주머니를 항시 방광 높이 이하로 유지하고 연결관 굴곡 방지.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❌ 권장되지 않는 예방 조치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단기/장기 유치 환자 모두에게 **예방적 항생제 사용 권장 안 됨** A-I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도뇨관을 항균제나 소독제로 세척(Irrigation)하는 것은 세균뇨 억제 효과가 없으며 권장 안 됨 A-II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간헐적 도뇨 환자의 경우 일상적인 예방 항생제 투여 금지.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도뇨관 관련 요로감염 (CAUTI)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도뇨관 관련 요로감염의 임상적 치료 권고안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 교체 주기와 치료 : 도뇨관 유치 기간이 2주 이상이고 계속 사용이 필요한 상황에서 요로감염이 발생했다면, 항생제 투여 전에 **도뇨관을 새것으로</a:t>
            </a:r>
            <a:br/>
            <a:r>
              <a:t>              교환**해야 치료가 빠르고 재발이 감소함 A-I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적정 치료 기간 : - 적절한 항균제로 치료할 때 일반적으로 **7~14일간의 투여 기간**을 권장함 A-III . - 요로 감염 증상이 소실된 후 환자의 기저 요로계 기형 교정 등이 불완전하다면 치료 기간의 연장을 고려할 수 있음.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97280"/>
          </a:xfrm>
          <a:prstGeom prst="roundRect">
            <a:avLst/>
          </a:prstGeom>
          <a:solidFill>
            <a:srgbClr val="E6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💡 요배양 검사 우선 선행: 병원균이 다양하고 약제 내성률이 매우 높으므로, 항생제를 시작하기 전에 **반드시 도뇨관을 교체하거나 소변 배양 검사를 선행**해야 합니다 A-III 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복잡성 신우신염 (OBSTRUCTIVE PYELONEPHRITIS)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요로 폐쇄와 복잡성 신우신염의 관계 및 원인 질환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⚠️ 요폐쇄(Obstruction)의 위급성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요 배출 장애 시 세균이 신실질 및 혈류로 쉽게 유입되어 **패혈증(Sepsis) 유발 위험**이 극대화됨.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폐쇄가 지속될 경우 사구체 여과율이 급감하고 신장의 농축 능력이 영구 상실(4주 이상 방치 시 영구 손상)될 수 있음.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따라서 항생제 투여와 동시에 **신속한 요로 감압(Decompression)**이 치료 예후에 절대적인 영향을 미침.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⚙️ 대표적인 요로 폐쇄 원인 질환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요결석증 (Urolithiasis) : 급성 배통 유발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전립선 비대증 (BPH) : 노인 남성의 급성 요저류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요관 및 요도 협착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신경인성 방광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종양 (Tumors) 또는 선천성 요로 기형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복잡성 신우신염 (OBSTRUCTIVE PYELONEPHRITIS)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진단적 영상학 검사 및 응급 감압술 권고안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📸 초기 진단을 위한 최적의 영상 검사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상부요로 폐쇄성 병변 감별 시 초음파 검사에 비해 **비조영증강 전산화단층촬영(UHCT)**이 정확도가 현저히 높아 우선 권장됨 A-II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하부요로 폐쇄가 의심되는 경우, 잔뇨량 측정을 통해 100 mL 초과 시 유의한 요폐쇄 상태로 판단 가능함.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🔧 즉각적인 응급 감압(Decompression)</a:t>
            </a:r>
            <a:br/>
            <a:r>
              <a:t>                방법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급성 요로폐쇄를 동반한 요로감염은 즉각적인 감압이 필요한 응급 상황입니다 A-I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**경피적 신루 설치술 (PCN, Percutaneous Nephrostomy)**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**Double-J 요관 스텐트 삽입술 (D-J Stent)**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**유치도뇨관 유치** (하부요로 폐쇄 시)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*신장절제술*은 배농 및 배뇨 유도가 불가능한 최종 단계에서만 시행합니다.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복잡성 신우신염 (OBSTRUCTIVE PYELONEPHRITIS)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요로 폐쇄성 복잡성 신우신염의 약제 치료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환자 상태분류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경험적 항균제 권고안 및 치료 전략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권고 등급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외래 통원 가능 환자 (비중증 요로폐쇄 감염)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- 경구용 **Fluoroquinolone** 치료 우선 고려. - Aminopenicillin/BLI, 3세대 Cephalosporin 또는 Aminoglycoside</a:t>
                      </a:r>
                    </a:p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                  단독/병합 고려 가능.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A-III A-II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중증 감염 및 패혈증 의심 (입원 환자)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- **경험적 병합 요법** 강하게 고려 (초기 항녹농균 항생제 등). - Aminopenicillin/BLI, Ceftazidime, Cefepime, Carbapenem</a:t>
                      </a:r>
                    </a:p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                  단독 혹은 Aminoglycoside나 Fluoroquinolone 병용.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A-II B-III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전립선 비대에 의한 요폐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도뇨관 삽입 초기 또는 배뇨 시도 3일 전부터 **알파차단제(Tamsulosin 등)**를 병용 투여하여 성공률 제고.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C-III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신경인성 방광 동반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감염 조절 후 배뇨 장애 해결을 위해 항콜린제 단독 또는 알파차단제와 병합하여 배뇨 관리.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B-III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세균성 전립선염 (BACTERIAL PROSTATITIS)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NIH 전립선염 분류 체계 및 주요 원인균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범주 (Category)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분류 명칭 및 특징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Category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급성 세균성 전립선염 (심한 급성 전신 감염)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Category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만성 세균성 전립선염 (재발성 요로감염 양상)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Category 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만성 비세균성 전립선염 / 만성 골반통 증후군 (CPPS)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Category 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D1D1F"/>
                          </a:solidFill>
                        </a:defRPr>
                      </a:pPr>
                      <a:r>
                        <a:t>무증상 염증성 전립선염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세균성 전립선염 (BACTERIAL PROSTATITIS)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급성 세균성 전립선염(Category I) 진단 및 치료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⚠️ 급성기 절대적 금기 사항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진단은 전립선 마사지 없이 **중간뇨 배양 및 혈액 배양**으로 시행합니다.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💊 약제 선택 및 치료 기간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급성기는 중증 전신 감염이므로 **즉각 입원하여 비경구적(정주용) 항생제** 투여 권장 C-III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경험적 약제로 **3세대 Cephalosporin** 또는 **Fluoroquinolone** 단독 혹은 **Aminoglycoside 병용** 권장 B-III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급성기가 조절된 후에는, 만성 이행을 예방하기 위해 **최소 2주에서 최대 4주간 경구 항생제 유지** 필요 B-III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급성 요폐 동반 시 도뇨관 대신 **치골상부 방광루 설치** 권장.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세균성 전립선염 (BACTERIAL PROSTATITIS)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만성 세균성 전립선염(Category II) 치료 및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🔬 만성 전립선염의 약제 선택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전립선 실질 조직 장벽을 효과적으로 통과하는 **Fluoroquinolone 제제**가 1차 표준 선택 약물임 A-I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**Levofloxacin 500 mg 1일 1회** 또는 **Ciprofloxacin 500 mg 1일 2회** 요법 권장 A-I A-II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권장되는 총 치료 기간은 **4주(28일) 요법**이며, 2주 요법에 비해 완치율이 높음 B-II 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*Chlamydia* 동정 시 Azithromycin 또는 Doxycycline 사용 권장 A-I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1D1D1F"/>
                </a:solidFill>
              </a:defRPr>
            </a:pPr>
            <a:r>
              <a:t>💡 의료인 핵심 요약 (Take-Home)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무증상 세균뇨는 **임신부와 TUR-P 환자**만 스크리닝 및 치료하고, 당뇨병과 노인 환자는 치료하지 않는다.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단순 요로감염 시 국내 높은 퀴놀론 내성률을 고려한 배양 감수성 검사가 권장된다.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폐쇄성 신우신염은 신속한 **영상 검사(UHCT) 및 PCN/D-J 스텐트 감압**이 동반되어야 한다.</a:t>
            </a:r>
          </a:p>
          <a:p>
            <a:pPr>
              <a:spcAft>
                <a:spcPts val="800"/>
              </a:spcAft>
              <a:defRPr sz="1600">
                <a:solidFill>
                  <a:srgbClr val="1D1D1F"/>
                </a:solidFill>
              </a:defRPr>
            </a:pPr>
            <a:r>
              <a:t>도뇨관 환자의 농뇨는 요로감염의 진단 기준이 될 수 없다.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